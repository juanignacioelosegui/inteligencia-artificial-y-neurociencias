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xRLUchIgqBj55mURj427A18Lc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da4440a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6da4440a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3f31cc2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3f31cc2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40722ce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40722ce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40722ce9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f40722ce9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40722ce9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40722ce9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40722ce9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40722ce9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f31cc29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3f31cc29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4035c312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4035c312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4035c312a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f4035c312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átula principal">
  <p:cSld name="TITLE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80700" y="68675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 txBox="1"/>
          <p:nvPr>
            <p:ph type="ctrTitle"/>
          </p:nvPr>
        </p:nvSpPr>
        <p:spPr>
          <a:xfrm>
            <a:off x="485875" y="26266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18"/>
          <p:cNvSpPr txBox="1"/>
          <p:nvPr>
            <p:ph idx="1" type="subTitle"/>
          </p:nvPr>
        </p:nvSpPr>
        <p:spPr>
          <a:xfrm>
            <a:off x="485875" y="41002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8"/>
          <p:cNvSpPr txBox="1"/>
          <p:nvPr/>
        </p:nvSpPr>
        <p:spPr>
          <a:xfrm>
            <a:off x="485875" y="1609175"/>
            <a:ext cx="81837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Inteligencia Artificial y Neurociencia - Reinforcement Learning</a:t>
            </a:r>
            <a:endParaRPr b="1" i="0" sz="20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" name="Google Shape;14;p18"/>
          <p:cNvSpPr txBox="1"/>
          <p:nvPr/>
        </p:nvSpPr>
        <p:spPr>
          <a:xfrm>
            <a:off x="485875" y="1259100"/>
            <a:ext cx="8183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Licenciatura en Tecnología Digital</a:t>
            </a:r>
            <a:endParaRPr b="0" i="0" sz="1600" u="none" cap="none" strike="noStrike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4925" y="471446"/>
            <a:ext cx="28800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" name="Google Shape;20;p19"/>
          <p:cNvSpPr/>
          <p:nvPr/>
        </p:nvSpPr>
        <p:spPr>
          <a:xfrm>
            <a:off x="311700" y="847725"/>
            <a:ext cx="8520600" cy="10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4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24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6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aleway"/>
              <a:buNone/>
              <a:defRPr b="1" i="0" sz="3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ctrTitle"/>
          </p:nvPr>
        </p:nvSpPr>
        <p:spPr>
          <a:xfrm>
            <a:off x="485875" y="26266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600"/>
              <a:t>Deep Q Learning + Proyecto + Guia/TP</a:t>
            </a:r>
            <a:endParaRPr sz="3600"/>
          </a:p>
        </p:txBody>
      </p:sp>
      <p:sp>
        <p:nvSpPr>
          <p:cNvPr id="58" name="Google Shape;58;p1"/>
          <p:cNvSpPr txBox="1"/>
          <p:nvPr>
            <p:ph idx="1" type="subTitle"/>
          </p:nvPr>
        </p:nvSpPr>
        <p:spPr>
          <a:xfrm>
            <a:off x="485875" y="41002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Clase práctica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-285727" lvl="0" marL="540000" rtl="0" algn="l">
              <a:lnSpc>
                <a:spcPct val="115000"/>
              </a:lnSpc>
              <a:spcBef>
                <a:spcPts val="5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Repasar el algoritmo de DQL para entender en </a:t>
            </a:r>
            <a:r>
              <a:rPr lang="es"/>
              <a:t>qué</a:t>
            </a:r>
            <a:r>
              <a:rPr lang="es"/>
              <a:t> casos y por qu</a:t>
            </a:r>
            <a:r>
              <a:rPr lang="es"/>
              <a:t>é es útil este enfoque para representar el espacio de estados y cuando quizás no. (20 minutos)</a:t>
            </a:r>
            <a:endParaRPr/>
          </a:p>
          <a:p>
            <a:pPr indent="-285727" lvl="0" marL="540000" rtl="0" algn="l">
              <a:lnSpc>
                <a:spcPct val="115000"/>
              </a:lnSpc>
              <a:spcBef>
                <a:spcPts val="5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Experimentar con el notebook de CartPole (40 minutos)</a:t>
            </a:r>
            <a:endParaRPr/>
          </a:p>
          <a:p>
            <a:pPr indent="-285727" lvl="0" marL="540000" rtl="0" algn="l">
              <a:lnSpc>
                <a:spcPct val="115000"/>
              </a:lnSpc>
              <a:spcBef>
                <a:spcPts val="5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Resolver ejercicios de Gu</a:t>
            </a:r>
            <a:r>
              <a:rPr lang="es"/>
              <a:t>ía solicitados</a:t>
            </a:r>
            <a:endParaRPr/>
          </a:p>
          <a:p>
            <a:pPr indent="-334328" lvl="0" marL="457200" rtl="0" algn="l">
              <a:spcBef>
                <a:spcPts val="50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s">
                <a:solidFill>
                  <a:schemeClr val="dk2"/>
                </a:solidFill>
              </a:rPr>
              <a:t>Ver un caso de Policy Gradients</a:t>
            </a:r>
            <a:endParaRPr/>
          </a:p>
        </p:txBody>
      </p:sp>
      <p:sp>
        <p:nvSpPr>
          <p:cNvPr id="64" name="Google Shape;64;p2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Plan para hoy!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da4440a6_0_83"/>
          <p:cNvSpPr txBox="1"/>
          <p:nvPr>
            <p:ph type="ctrTitle"/>
          </p:nvPr>
        </p:nvSpPr>
        <p:spPr>
          <a:xfrm>
            <a:off x="485875" y="26266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600"/>
              <a:t>Deep Q Learning</a:t>
            </a:r>
            <a:endParaRPr sz="3600"/>
          </a:p>
        </p:txBody>
      </p:sp>
      <p:sp>
        <p:nvSpPr>
          <p:cNvPr id="70" name="Google Shape;70;g3f6da4440a6_0_83"/>
          <p:cNvSpPr txBox="1"/>
          <p:nvPr>
            <p:ph idx="1" type="subTitle"/>
          </p:nvPr>
        </p:nvSpPr>
        <p:spPr>
          <a:xfrm>
            <a:off x="485875" y="41002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-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3f31cc295_0_0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Algoritmo</a:t>
            </a:r>
            <a:endParaRPr/>
          </a:p>
        </p:txBody>
      </p:sp>
      <p:pic>
        <p:nvPicPr>
          <p:cNvPr id="76" name="Google Shape;76;g3f3f31cc295_0_0" title="Screenshot 2026-08-25 at 11.08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625" y="1087075"/>
            <a:ext cx="6088750" cy="38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0722ce95_0_5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4300" lvl="0" marL="540000" rtl="0" algn="l">
              <a:lnSpc>
                <a:spcPct val="115000"/>
              </a:lnSpc>
              <a:spcBef>
                <a:spcPts val="5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Qu</a:t>
            </a:r>
            <a:r>
              <a:rPr lang="es"/>
              <a:t>é</a:t>
            </a:r>
            <a:r>
              <a:rPr lang="es"/>
              <a:t> estados nuevos </a:t>
            </a:r>
            <a:r>
              <a:rPr lang="es"/>
              <a:t>puede</a:t>
            </a:r>
            <a:r>
              <a:rPr lang="es"/>
              <a:t> representar que con una grilla se complica?</a:t>
            </a:r>
            <a:endParaRPr/>
          </a:p>
          <a:p>
            <a:pPr indent="-294300" lvl="0" marL="540000" rtl="0" algn="l">
              <a:lnSpc>
                <a:spcPct val="115000"/>
              </a:lnSpc>
              <a:spcBef>
                <a:spcPts val="5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Hay alguna ventaja para estados similares?</a:t>
            </a:r>
            <a:endParaRPr/>
          </a:p>
          <a:p>
            <a:pPr indent="-294300" lvl="0" marL="540000" rtl="0" algn="l">
              <a:lnSpc>
                <a:spcPct val="115000"/>
              </a:lnSpc>
              <a:spcBef>
                <a:spcPts val="50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Y si hay estados que no voy a visitar nunca?</a:t>
            </a:r>
            <a:endParaRPr/>
          </a:p>
        </p:txBody>
      </p:sp>
      <p:sp>
        <p:nvSpPr>
          <p:cNvPr id="82" name="Google Shape;82;g3f40722ce95_0_5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Nociones de DQL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40722ce95_0_31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Inestable, pero esto nos ayuda</a:t>
            </a:r>
            <a:endParaRPr/>
          </a:p>
        </p:txBody>
      </p:sp>
      <p:pic>
        <p:nvPicPr>
          <p:cNvPr id="88" name="Google Shape;88;g3f40722ce95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88" y="1073275"/>
            <a:ext cx="6037827" cy="39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40722ce95_0_10"/>
          <p:cNvSpPr txBox="1"/>
          <p:nvPr>
            <p:ph type="ctrTitle"/>
          </p:nvPr>
        </p:nvSpPr>
        <p:spPr>
          <a:xfrm>
            <a:off x="485875" y="26266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600"/>
              <a:t>Cart Pole</a:t>
            </a:r>
            <a:endParaRPr sz="3600"/>
          </a:p>
        </p:txBody>
      </p:sp>
      <p:sp>
        <p:nvSpPr>
          <p:cNvPr id="94" name="Google Shape;94;g3f40722ce95_0_10"/>
          <p:cNvSpPr txBox="1"/>
          <p:nvPr>
            <p:ph idx="1" type="subTitle"/>
          </p:nvPr>
        </p:nvSpPr>
        <p:spPr>
          <a:xfrm>
            <a:off x="485875" y="41002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-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40722ce95_0_16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Entendiendo el Juego</a:t>
            </a:r>
            <a:endParaRPr/>
          </a:p>
        </p:txBody>
      </p:sp>
      <p:pic>
        <p:nvPicPr>
          <p:cNvPr id="100" name="Google Shape;100;g3f40722ce95_0_16" title="cart_pole_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065" y="1365975"/>
            <a:ext cx="5409875" cy="36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3f31cc295_0_38"/>
          <p:cNvSpPr txBox="1"/>
          <p:nvPr>
            <p:ph type="ctrTitle"/>
          </p:nvPr>
        </p:nvSpPr>
        <p:spPr>
          <a:xfrm>
            <a:off x="485875" y="26266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600"/>
              <a:t>Ejercicios Guía</a:t>
            </a:r>
            <a:endParaRPr sz="3600"/>
          </a:p>
        </p:txBody>
      </p:sp>
      <p:sp>
        <p:nvSpPr>
          <p:cNvPr id="106" name="Google Shape;106;g3f3f31cc295_0_38"/>
          <p:cNvSpPr txBox="1"/>
          <p:nvPr>
            <p:ph idx="1" type="subTitle"/>
          </p:nvPr>
        </p:nvSpPr>
        <p:spPr>
          <a:xfrm>
            <a:off x="485875" y="41002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-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4035c312a_1_1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Ejercicios</a:t>
            </a:r>
            <a:endParaRPr/>
          </a:p>
        </p:txBody>
      </p:sp>
      <p:pic>
        <p:nvPicPr>
          <p:cNvPr id="112" name="Google Shape;112;g3f4035c312a_1_1" title="Screenshot 2026-08-25 at 11.38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675" y="1145274"/>
            <a:ext cx="8102649" cy="5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f4035c312a_1_1" title="Screenshot 2026-08-25 at 11.38.57 PM.png"/>
          <p:cNvPicPr preferRelativeResize="0"/>
          <p:nvPr/>
        </p:nvPicPr>
        <p:blipFill rotWithShape="1">
          <a:blip r:embed="rId4">
            <a:alphaModFix/>
          </a:blip>
          <a:srcRect b="51343" l="0" r="0" t="0"/>
          <a:stretch/>
        </p:blipFill>
        <p:spPr>
          <a:xfrm>
            <a:off x="520673" y="1728725"/>
            <a:ext cx="6915901" cy="15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f4035c312a_1_1" title="Screenshot 2026-08-25 at 11.38.57 PM.png"/>
          <p:cNvPicPr preferRelativeResize="0"/>
          <p:nvPr/>
        </p:nvPicPr>
        <p:blipFill rotWithShape="1">
          <a:blip r:embed="rId4">
            <a:alphaModFix/>
          </a:blip>
          <a:srcRect b="0" l="0" r="0" t="48422"/>
          <a:stretch/>
        </p:blipFill>
        <p:spPr>
          <a:xfrm>
            <a:off x="520675" y="3335200"/>
            <a:ext cx="6524072" cy="15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4035c312a_1_9"/>
          <p:cNvSpPr txBox="1"/>
          <p:nvPr>
            <p:ph type="title"/>
          </p:nvPr>
        </p:nvSpPr>
        <p:spPr>
          <a:xfrm>
            <a:off x="311700" y="216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Algoritmo MC Base para EJ 15</a:t>
            </a:r>
            <a:endParaRPr/>
          </a:p>
        </p:txBody>
      </p:sp>
      <p:pic>
        <p:nvPicPr>
          <p:cNvPr id="120" name="Google Shape;120;g3f4035c312a_1_9" title="Screenshot 2026-08-25 at 11.42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450" y="1452450"/>
            <a:ext cx="5287727" cy="33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f4035c312a_1_9"/>
          <p:cNvSpPr txBox="1"/>
          <p:nvPr/>
        </p:nvSpPr>
        <p:spPr>
          <a:xfrm>
            <a:off x="271050" y="1604525"/>
            <a:ext cx="3903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1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2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3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4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5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6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7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8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9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10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11</a:t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1C4587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1155CC"/>
      </a:accent2>
      <a:accent3>
        <a:srgbClr val="60A02D"/>
      </a:accent3>
      <a:accent4>
        <a:srgbClr val="04B1A0"/>
      </a:accent4>
      <a:accent5>
        <a:srgbClr val="A14ED8"/>
      </a:accent5>
      <a:accent6>
        <a:srgbClr val="C77025"/>
      </a:accent6>
      <a:hlink>
        <a:srgbClr val="1155CC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